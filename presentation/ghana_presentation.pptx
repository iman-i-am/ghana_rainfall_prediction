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45720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7772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Indigenous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11480" y="16002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Prediction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411480" y="2578608"/>
            <a:ext cx="3200400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7249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indigenous ecological knowledge with machine learning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rainfall in Ghana's Pra River Basin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3520440"/>
            <a:ext cx="1600200" cy="338328"/>
          </a:xfrm>
          <a:prstGeom prst="roundRect">
            <a:avLst>
              <a:gd name="adj" fmla="val 13514"/>
            </a:avLst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520440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30552" y="3520440"/>
            <a:ext cx="1600200" cy="338328"/>
          </a:xfrm>
          <a:prstGeom prst="roundRect">
            <a:avLst>
              <a:gd name="adj" fmla="val 13514"/>
            </a:avLst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30552" y="3520440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49624" y="3520440"/>
            <a:ext cx="1600200" cy="338328"/>
          </a:xfrm>
          <a:prstGeom prst="roundRect">
            <a:avLst>
              <a:gd name="adj" fmla="val 13514"/>
            </a:avLst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9624" y="3520440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68696" y="3520440"/>
            <a:ext cx="1600200" cy="338328"/>
          </a:xfrm>
          <a:prstGeom prst="roundRect">
            <a:avLst>
              <a:gd name="adj" fmla="val 13514"/>
            </a:avLst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68696" y="3520440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287768" y="3520440"/>
            <a:ext cx="1600200" cy="338328"/>
          </a:xfrm>
          <a:prstGeom prst="roundRect">
            <a:avLst>
              <a:gd name="adj" fmla="val 13514"/>
            </a:avLst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87768" y="3520440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1148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 ·  CLIMATE AI  ·  RESPONSIBLE AI  ·  PORTFOLIO PROJECT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CONTEXT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Ghanaian smallholder farmers depend on rainfall for food and income — yet modern forecasting tools are inaccessible, inaccurate at hyper-local scale, and ignore generations of indigenous ecological knowledge.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83080"/>
            <a:ext cx="265176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938528"/>
            <a:ext cx="502920" cy="5029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75104"/>
            <a:ext cx="429768" cy="4297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25420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30352" y="29992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Rainfed Agriculture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" y="343814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Ghanaian farming relies exclusively on rainfall — no irrigation backup.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178308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783080"/>
            <a:ext cx="26517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64992" y="1938528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975104"/>
            <a:ext cx="429768" cy="4297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64992" y="25420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3364992" y="29992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Inaccessibility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64992" y="343814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meteorological tools are unavailable or inaccurate at rural hyper-local scale.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35040" y="178308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1783080"/>
            <a:ext cx="265176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99632" y="1938528"/>
            <a:ext cx="502920" cy="5029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975104"/>
            <a:ext cx="429768" cy="4297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99632" y="25420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6199632" y="29992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Erosion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199632" y="343814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forecasting systems are undocumented, unvalidated, and at risk of being lost.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via the Smart Indigenous Weather App  ·  Pra River Basin, Ghana  ·  May–July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KEY EDA FINDINGS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12984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54864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078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10,928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84048" y="1554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691640" y="1005840"/>
            <a:ext cx="12984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91640" y="1005840"/>
            <a:ext cx="54864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01368" y="1078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801368" y="1554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(Users)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08960" y="1005840"/>
            <a:ext cx="12984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08960" y="1005840"/>
            <a:ext cx="54864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18688" y="1078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218688" y="1554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74320" y="2103120"/>
            <a:ext cx="12984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2103120"/>
            <a:ext cx="54864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1762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84048" y="2651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691640" y="2103120"/>
            <a:ext cx="12984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691640" y="2103120"/>
            <a:ext cx="54864" cy="9601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01368" y="21762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801368" y="2651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Indicators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08960" y="2103120"/>
            <a:ext cx="12984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108960" y="2103120"/>
            <a:ext cx="54864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18688" y="21762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218688" y="2651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Coverage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572000" y="1005840"/>
            <a:ext cx="4297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0" y="1005840"/>
            <a:ext cx="64008" cy="10241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97280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074920" y="1078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NORAIN Imbalance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074920" y="14264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applied to all models — without this a naive model predicting NORAIN always would appear 88% accurate but have zero utility.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572000" y="2148840"/>
            <a:ext cx="4297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572000" y="2148840"/>
            <a:ext cx="64008" cy="10241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240280"/>
            <a:ext cx="274320" cy="27432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074920" y="2221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 Missing Indicators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5074920" y="25694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signs are sparsely logged. Despite this, when recorded they meaningfully shift the rainfall distribution — especially for SMALLRAIN.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572000" y="3291840"/>
            <a:ext cx="4297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572000" y="3291840"/>
            <a:ext cx="64008" cy="10241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383280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074920" y="3364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atiwa_west Drives Rainfall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5074920" y="37124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 of 315 HEAVYRAIN events come from atiwa_west district. Geography is the strongest predictive signal in the dataset.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274320" y="4480560"/>
            <a:ext cx="8595360" cy="475488"/>
          </a:xfrm>
          <a:prstGeom prst="rect">
            <a:avLst/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11480" y="44805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spans Ghana's primary rainy season (May–July 2025)  ·  3 districts: atiwa_west · assin_fosu · obuasi_east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206240" cy="1536192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143000"/>
            <a:ext cx="566928" cy="5669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43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78992" y="118872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1188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" y="1481328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+ Geographic Features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78992" y="179222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pred_hour, pred_dow, is_weekend from timestamps. Standardised 38 community names with spelling variants. Imputed indicator with 'unknown' to preserve IEI structure.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005840"/>
            <a:ext cx="4206240" cy="1536192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143000"/>
            <a:ext cx="566928" cy="5669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1143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513832" y="118872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13832" y="1188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513832" y="1481328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Pipeline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13832" y="179222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ColumnTransformer: median imputation for numerics, constant + OneHotEncoder for categoricals. Final matrix: 10,928 × 94 features.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2743200"/>
            <a:ext cx="4206240" cy="1536192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1480" y="2880360"/>
            <a:ext cx="566928" cy="5669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78992" y="292608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78992" y="2926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8992" y="3218688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Algorithms Evaluated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78992" y="35295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CatBoost — all with class weights to handle 88% NORAIN imbalance. Train/validation split + 5-fold stratified cross-validation.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09160" y="2743200"/>
            <a:ext cx="4206240" cy="1536192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46320" y="2880360"/>
            <a:ext cx="566928" cy="5669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513832" y="292608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13832" y="2926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513832" y="3218688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513832" y="35295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for global feature importance across all 94 features. LIME for local instance-level explanations per rainfall class. Both required by competition.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 produced for cross-platform deployment  ·  Total notebook runtime: ~1.1 minutes in Google Colab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 —  XGBOOST SELECTED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2743200" cy="388620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188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0.9501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274320" y="2240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25877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0.0101 (5-fold CV)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2999232"/>
            <a:ext cx="2103120" cy="3657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0.9487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3429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4320" y="36941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0.0101 σ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74320" y="3995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Stability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" y="4261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0.0297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74320" y="45628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Train-Val Gap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46120" y="1005840"/>
            <a:ext cx="557784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37560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26280" y="10058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166360" y="10058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760720" y="10058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446520" y="10058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46120" y="1353312"/>
            <a:ext cx="5577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46120" y="1353312"/>
            <a:ext cx="4572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37560" y="14081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HEAVYRAIN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26280" y="140817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166360" y="14081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760720" y="14081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446520" y="140817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246120" y="1810512"/>
            <a:ext cx="5577840" cy="438912"/>
          </a:xfrm>
          <a:prstGeom prst="rect">
            <a:avLst/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1810512"/>
            <a:ext cx="4572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37560" y="18653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MEDIUMRAIN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526280" y="186537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166360" y="18653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760720" y="18653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46520" y="186537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246120" y="2267712"/>
            <a:ext cx="5577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46120" y="2267712"/>
            <a:ext cx="45720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337560" y="23225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NORAIN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526280" y="232257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166360" y="23225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760720" y="23225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446520" y="232257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9,612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3246120" y="2724912"/>
            <a:ext cx="5577840" cy="438912"/>
          </a:xfrm>
          <a:prstGeom prst="rect">
            <a:avLst/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246120" y="2724912"/>
            <a:ext cx="4572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337560" y="27797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SMALLRAIN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4526280" y="277977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~0.940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5166360" y="27797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~0.942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5760720" y="27797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~0.941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6446520" y="277977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3246120" y="3182112"/>
            <a:ext cx="5577840" cy="384048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337560" y="31821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5577840" y="31821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0.9758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6446520" y="31821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10,928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3246120" y="4251960"/>
            <a:ext cx="5577840" cy="640080"/>
          </a:xfrm>
          <a:prstGeom prst="rect">
            <a:avLst/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337560" y="42519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SMALLRAIN (2.2% of data) is the hardest class — rarest label with highest prediction uncertainty. Class weights of up to 40× applied to improve minority class detection.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 —  SHAP + LIME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 Feature Importance (Top 7)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389888"/>
            <a:ext cx="4114800" cy="292608"/>
          </a:xfrm>
          <a:prstGeom prst="rect">
            <a:avLst/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389888"/>
            <a:ext cx="41148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426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62272" y="14264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0.760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1819656"/>
            <a:ext cx="4114800" cy="292608"/>
          </a:xfrm>
          <a:prstGeom prst="rect">
            <a:avLst/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819656"/>
            <a:ext cx="3378467" cy="2926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8562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community_Asamama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462272" y="1856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0.624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249424"/>
            <a:ext cx="4114800" cy="292608"/>
          </a:xfrm>
          <a:prstGeom prst="rect">
            <a:avLst/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249424"/>
            <a:ext cx="2057400" cy="292608"/>
          </a:xfrm>
          <a:prstGeom prst="rect">
            <a:avLst/>
          </a:prstGeom>
          <a:solidFill>
            <a:srgbClr val="7FB3D3"/>
          </a:solidFill>
          <a:ln w="12700">
            <a:solidFill>
              <a:srgbClr val="7FB3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2860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pred_hour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462272" y="22860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0.380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2679192"/>
            <a:ext cx="4114800" cy="292608"/>
          </a:xfrm>
          <a:prstGeom prst="rect">
            <a:avLst/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2679192"/>
            <a:ext cx="1938287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2715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district_atiwa_west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462272" y="27157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0.358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3108960"/>
            <a:ext cx="4114800" cy="292608"/>
          </a:xfrm>
          <a:prstGeom prst="rect">
            <a:avLst/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3108960"/>
            <a:ext cx="1472665" cy="292608"/>
          </a:xfrm>
          <a:prstGeom prst="rect">
            <a:avLst/>
          </a:prstGeom>
          <a:solidFill>
            <a:srgbClr val="7FB3D3"/>
          </a:solidFill>
          <a:ln w="12700">
            <a:solidFill>
              <a:srgbClr val="7FB3D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31455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462272" y="3145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0.272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74320" y="3538728"/>
            <a:ext cx="4114800" cy="292608"/>
          </a:xfrm>
          <a:prstGeom prst="rect">
            <a:avLst/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4320" y="3538728"/>
            <a:ext cx="530593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35753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indicator_cloud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462272" y="35753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0.098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3968496"/>
            <a:ext cx="4114800" cy="292608"/>
          </a:xfrm>
          <a:prstGeom prst="rect">
            <a:avLst/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74320" y="3968496"/>
            <a:ext cx="471036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" y="4005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indicator_star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462272" y="40050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0.087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257800" y="1005840"/>
            <a:ext cx="36118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257800" y="1005840"/>
            <a:ext cx="64008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94960" y="1097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dominates (0.760)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394960" y="1463040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farmer identity is the strongest predictor — reflecting consistent personal observation patterns.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257800" y="2304288"/>
            <a:ext cx="36118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257800" y="2304288"/>
            <a:ext cx="64008" cy="1170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94960" y="23957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is powerful (0.624)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394960" y="276148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and district features rank 2nd and 4th. Rainfall in Ghana is hyper-local.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257800" y="3602736"/>
            <a:ext cx="36118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257800" y="3602736"/>
            <a:ext cx="64008" cy="1170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94960" y="369417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IEIs validated (cloud 0.098, star 0.087)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394960" y="405993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indicators appear in top 15 despite only 4.6% data coverage — scientifically significant.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applied instance-level for all 4 classes — providing culturally accessible explanations that align with indigenous knowledge systems and build farmer trust in AI predictions.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35331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353312"/>
            <a:ext cx="64008" cy="8046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1408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Indicator Sparsity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17007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 of records have no IEI. User and location dominate because they are always present — indicators are predictive but rare.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226771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267712"/>
            <a:ext cx="64008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2322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Geographic Scope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" y="26151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districts in the Pra River Basin. Generalisation to new regions or districts is untested.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318211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3182112"/>
            <a:ext cx="64008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" y="3236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SMALLRAIN Detection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38912" y="35295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Rarest class at 2.2% — hardest to classify correctly despite class weighting. Misclassification risk remains highest here.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409651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4096512"/>
            <a:ext cx="64008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" y="4151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Single Rainy Season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38912" y="44439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covers one season (May–July 2025). Multi-year data would improve seasonal and inter-annual robustness.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Opportunities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135331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1353312"/>
            <a:ext cx="64008" cy="8046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19472" y="1408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Hyperparameter Tuning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919472" y="17007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Optuna-based XGBoost tuning could push macro F1 above 0.96.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754880" y="226771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54880" y="2267712"/>
            <a:ext cx="64008" cy="8046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19472" y="2322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Feature Selection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919472" y="26151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94 features to top 10–15 for better interpretability and efficiency.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754880" y="318211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54880" y="3182112"/>
            <a:ext cx="64008" cy="8046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19472" y="3236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Model Ensemble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919472" y="35295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XGBoost + LightGBM predictions for improved robustness.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754880" y="409651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54880" y="4096512"/>
            <a:ext cx="64008" cy="8046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19472" y="4151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Expanded Data Collection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919472" y="44439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seasons, more districts, and higher IEI coverage would directly address all four limitations.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BROADER CONTEXT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206240" cy="150876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64008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430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1155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14400" y="15087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rainfall forecasts help smallholder farmers time planting decisions, reduce crop loss, and improve household food security.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09160" y="1005840"/>
            <a:ext cx="4206240" cy="150876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1005840"/>
            <a:ext cx="64008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1430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9240" y="11155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Knowledge Validated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349240" y="15087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traditional ecological indicators are shown to carry measurable predictive signal — giving scientific weight to centuries of local knowledge.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74320" y="2697480"/>
            <a:ext cx="4206240" cy="150876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74320" y="2697480"/>
            <a:ext cx="64008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8346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28072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by Design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14400" y="32004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and LIME explainability baked in from the start. ONNX export for transparent, cross-platform deployment. No black-box decisions.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709160" y="2697480"/>
            <a:ext cx="4206240" cy="150876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09160" y="2697480"/>
            <a:ext cx="64008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83464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28072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Path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349240" y="32004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expansion to additional districts, new seasons, and integration with modern meteorological data sources.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for the Zindi Ghana Indigenous Intel Challenge  ·  Hosted by RAIL at KNUST  ·  Supported by the French Embassy in Ghana &amp; AI4D Africa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Ghana Indigenous Rainfall Prediction</dc:title>
  <dc:subject>PptxGenJS Presentation</dc:subject>
  <dc:creator>PptxGenJS</dc:creator>
  <cp:lastModifiedBy>PptxGenJS</cp:lastModifiedBy>
  <cp:revision>1</cp:revision>
  <dcterms:created xsi:type="dcterms:W3CDTF">2026-03-19T09:52:29Z</dcterms:created>
  <dcterms:modified xsi:type="dcterms:W3CDTF">2026-03-19T09:52:29Z</dcterms:modified>
</cp:coreProperties>
</file>