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60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" y="5079492"/>
            <a:ext cx="8979408" cy="64008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029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77724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 Indigenous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411480" y="16002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Prediction</a:t>
            </a:r>
            <a:endParaRPr lang="en-US" sz="4200" dirty="0"/>
          </a:p>
        </p:txBody>
      </p:sp>
      <p:sp>
        <p:nvSpPr>
          <p:cNvPr id="8" name="Shape 5"/>
          <p:cNvSpPr/>
          <p:nvPr/>
        </p:nvSpPr>
        <p:spPr>
          <a:xfrm>
            <a:off x="411480" y="2578608"/>
            <a:ext cx="3474720" cy="45720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272491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indigenous ecological knowledge with machine learning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predict rainfall in Ghana's Pra River Basin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1480" y="3520440"/>
            <a:ext cx="1600200" cy="338328"/>
          </a:xfrm>
          <a:prstGeom prst="roundRect">
            <a:avLst>
              <a:gd name="adj" fmla="val 13514"/>
            </a:avLst>
          </a:prstGeom>
          <a:solidFill>
            <a:srgbClr val="4B908E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" y="3520440"/>
            <a:ext cx="16002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130552" y="3520440"/>
            <a:ext cx="1600200" cy="338328"/>
          </a:xfrm>
          <a:prstGeom prst="roundRect">
            <a:avLst>
              <a:gd name="adj" fmla="val 13514"/>
            </a:avLst>
          </a:prstGeom>
          <a:solidFill>
            <a:srgbClr val="4B908E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30552" y="3520440"/>
            <a:ext cx="16002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849624" y="3520440"/>
            <a:ext cx="1600200" cy="338328"/>
          </a:xfrm>
          <a:prstGeom prst="roundRect">
            <a:avLst>
              <a:gd name="adj" fmla="val 13514"/>
            </a:avLst>
          </a:prstGeom>
          <a:solidFill>
            <a:srgbClr val="4B908E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9624" y="3520440"/>
            <a:ext cx="16002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 LIME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568696" y="3520440"/>
            <a:ext cx="1600200" cy="338328"/>
          </a:xfrm>
          <a:prstGeom prst="roundRect">
            <a:avLst>
              <a:gd name="adj" fmla="val 13514"/>
            </a:avLst>
          </a:prstGeom>
          <a:solidFill>
            <a:srgbClr val="4B908E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68696" y="3520440"/>
            <a:ext cx="16002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Export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287768" y="3520440"/>
            <a:ext cx="1600200" cy="338328"/>
          </a:xfrm>
          <a:prstGeom prst="roundRect">
            <a:avLst>
              <a:gd name="adj" fmla="val 13514"/>
            </a:avLst>
          </a:prstGeom>
          <a:solidFill>
            <a:srgbClr val="4B908E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87768" y="3520440"/>
            <a:ext cx="16002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11480" y="47091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AGRITECH  ·  CLIMATE AI  ·  RESPONSIBLE AI  ·  PORTFOLIO PROJECT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9144000" cy="54864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CONTEXT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Ghanaian smallholder farmers depend on rainfall for food and income — yet modern forecasting tools are inaccessible, inaccurate at hyper-local scale, and ignore generations of indigenous ecological knowledge.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26517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783080"/>
            <a:ext cx="2651760" cy="64008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1938528"/>
            <a:ext cx="502920" cy="502920"/>
          </a:xfrm>
          <a:prstGeom prst="ellipse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75104"/>
            <a:ext cx="429768" cy="4297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30352" y="2542032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E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30352" y="2999232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Rainfed Agriculture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3456432"/>
            <a:ext cx="2331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of Ghanaian farming relies exclusively on rainfall — no irrigation backup available.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00400" y="1783080"/>
            <a:ext cx="26517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00400" y="1783080"/>
            <a:ext cx="2651760" cy="64008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64992" y="1938528"/>
            <a:ext cx="502920" cy="502920"/>
          </a:xfrm>
          <a:prstGeom prst="ellipse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975104"/>
            <a:ext cx="429768" cy="42976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364992" y="2542032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E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4"/>
          <p:cNvSpPr/>
          <p:nvPr/>
        </p:nvSpPr>
        <p:spPr>
          <a:xfrm>
            <a:off x="3364992" y="2999232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Inaccessibility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3364992" y="3456432"/>
            <a:ext cx="2331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meteorological tools are unavailable or inaccurate at rural hyper-local scale.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035040" y="1783080"/>
            <a:ext cx="26517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35040" y="1783080"/>
            <a:ext cx="2651760" cy="64008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199632" y="1938528"/>
            <a:ext cx="502920" cy="502920"/>
          </a:xfrm>
          <a:prstGeom prst="ellipse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975104"/>
            <a:ext cx="429768" cy="4297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199632" y="2542032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E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25" name="Text 20"/>
          <p:cNvSpPr/>
          <p:nvPr/>
        </p:nvSpPr>
        <p:spPr>
          <a:xfrm>
            <a:off x="6199632" y="2999232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Erosion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99632" y="3456432"/>
            <a:ext cx="2331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Indigenous forecasting systems are undocumented, unvalidated, and at risk of being lost.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0" y="4736592"/>
            <a:ext cx="9144000" cy="292608"/>
          </a:xfrm>
          <a:prstGeom prst="rect">
            <a:avLst/>
          </a:prstGeom>
          <a:solidFill>
            <a:srgbClr val="E5E5E9"/>
          </a:solidFill>
          <a:ln w="12700">
            <a:solidFill>
              <a:srgbClr val="E5E5E9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65760" y="47365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collected via the Smart Indigenous Weather App  ·  Pra River Basin, Ghana  ·  May – July 2025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9144000" cy="54864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530352" cy="530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KEY EDA FINDINGS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274320" y="1005840"/>
            <a:ext cx="131673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1005840"/>
            <a:ext cx="64008" cy="987552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02336" y="1097280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10,928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402336" y="15910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1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Records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09928" y="1005840"/>
            <a:ext cx="131673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709928" y="1005840"/>
            <a:ext cx="64008" cy="987552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837944" y="1097280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837944" y="15910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1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(Users)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145536" y="1005840"/>
            <a:ext cx="131673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145536" y="1005840"/>
            <a:ext cx="64008" cy="987552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73552" y="1097280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3273552" y="15910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74320" y="2121408"/>
            <a:ext cx="131673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274320" y="2121408"/>
            <a:ext cx="64008" cy="987552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02336" y="2212848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402336" y="270662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1709928" y="2121408"/>
            <a:ext cx="131673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709928" y="2121408"/>
            <a:ext cx="64008" cy="987552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837944" y="2212848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1837944" y="270662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B9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Indigenous Indicators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145536" y="2121408"/>
            <a:ext cx="131673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45536" y="2121408"/>
            <a:ext cx="64008" cy="987552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273552" y="2212848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4.6%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3273552" y="270662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B9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Coverage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617720" y="1005840"/>
            <a:ext cx="4251960" cy="10332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617720" y="1005840"/>
            <a:ext cx="64008" cy="1033272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736592" y="1097280"/>
            <a:ext cx="274320" cy="274320"/>
          </a:xfrm>
          <a:prstGeom prst="ellipse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106424"/>
            <a:ext cx="256032" cy="256032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5102352" y="1078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 NORAIN Imbalance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5102352" y="142646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weights applied — a naive model predicting NORAIN always would appear 88% accurate but have zero utility.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4617720" y="2157984"/>
            <a:ext cx="4251960" cy="10332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617720" y="2157984"/>
            <a:ext cx="64008" cy="1033272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736592" y="2249424"/>
            <a:ext cx="274320" cy="274320"/>
          </a:xfrm>
          <a:prstGeom prst="ellipse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2258568"/>
            <a:ext cx="256032" cy="256032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5102352" y="22311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95.4% Missing Indicators</a:t>
            </a:r>
            <a:endParaRPr lang="en-US" sz="1200" dirty="0"/>
          </a:p>
        </p:txBody>
      </p:sp>
      <p:sp>
        <p:nvSpPr>
          <p:cNvPr id="41" name="Text 36"/>
          <p:cNvSpPr/>
          <p:nvPr/>
        </p:nvSpPr>
        <p:spPr>
          <a:xfrm>
            <a:off x="5102352" y="257860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Indigenous signs rarely logged. Despite this, when recorded they meaningfully shift the rainfall distribution.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4617720" y="3310128"/>
            <a:ext cx="4251960" cy="10332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4617720" y="3310128"/>
            <a:ext cx="64008" cy="1033272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736592" y="3401568"/>
            <a:ext cx="274320" cy="274320"/>
          </a:xfrm>
          <a:prstGeom prst="ellipse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736" y="3410712"/>
            <a:ext cx="256032" cy="256032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5102352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atiwa_west Drives Rainfall</a:t>
            </a:r>
            <a:endParaRPr lang="en-US" sz="1200" dirty="0"/>
          </a:p>
        </p:txBody>
      </p:sp>
      <p:sp>
        <p:nvSpPr>
          <p:cNvPr id="47" name="Text 41"/>
          <p:cNvSpPr/>
          <p:nvPr/>
        </p:nvSpPr>
        <p:spPr>
          <a:xfrm>
            <a:off x="5102352" y="373075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 of 315 HEAVYRAIN events come from atiwa_west. Geography is the strongest predictive signal in the dataset.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0" y="4736592"/>
            <a:ext cx="9144000" cy="292608"/>
          </a:xfrm>
          <a:prstGeom prst="rect">
            <a:avLst/>
          </a:prstGeom>
          <a:solidFill>
            <a:srgbClr val="E5E5E9"/>
          </a:solidFill>
          <a:ln w="12700">
            <a:solidFill>
              <a:srgbClr val="E5E5E9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365760" y="473659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spans Ghana's primary rainy season (May – July 2025)  ·  3 districts: atiwa_west  ·  assin_fosu  ·  obuasi_east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160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55254"/>
          </a:solidFill>
          <a:ln w="12700">
            <a:solidFill>
              <a:srgbClr val="2552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9144000" cy="54864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530352" cy="530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274320" y="1005840"/>
            <a:ext cx="4206240" cy="1554480"/>
          </a:xfrm>
          <a:prstGeom prst="rect">
            <a:avLst/>
          </a:prstGeom>
          <a:solidFill>
            <a:srgbClr val="3D7275"/>
          </a:solidFill>
          <a:ln w="12700">
            <a:solidFill>
              <a:srgbClr val="4B908E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11480" y="1152144"/>
            <a:ext cx="566928" cy="566928"/>
          </a:xfrm>
          <a:prstGeom prst="ellipse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11521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97280" y="1188720"/>
            <a:ext cx="1234440" cy="256032"/>
          </a:xfrm>
          <a:prstGeom prst="roundRect">
            <a:avLst>
              <a:gd name="adj" fmla="val 17857"/>
            </a:avLst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11887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97280" y="149961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+ Geographic Features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97280" y="182880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pred_hour, pred_dow, is_weekend from timestamps. Standardised 38 community names with spelling variants. Imputed indicator with 'unknown' to preserve IEI structure.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09160" y="1005840"/>
            <a:ext cx="4206240" cy="1554480"/>
          </a:xfrm>
          <a:prstGeom prst="rect">
            <a:avLst/>
          </a:prstGeom>
          <a:solidFill>
            <a:srgbClr val="3D7275"/>
          </a:solidFill>
          <a:ln w="12700">
            <a:solidFill>
              <a:srgbClr val="4B908E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846320" y="1152144"/>
            <a:ext cx="566928" cy="566928"/>
          </a:xfrm>
          <a:prstGeom prst="ellipse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46320" y="11521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532120" y="1188720"/>
            <a:ext cx="1234440" cy="256032"/>
          </a:xfrm>
          <a:prstGeom prst="roundRect">
            <a:avLst>
              <a:gd name="adj" fmla="val 17857"/>
            </a:avLst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32120" y="11887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532120" y="149961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Pipeline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532120" y="1828800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ColumnTransformer: median imputation for numerics, constant + OneHotEncoder for categoricals. Final feature matrix: 10,928 × 94 dimensions.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74320" y="2761488"/>
            <a:ext cx="4206240" cy="1554480"/>
          </a:xfrm>
          <a:prstGeom prst="rect">
            <a:avLst/>
          </a:prstGeom>
          <a:solidFill>
            <a:srgbClr val="3D7275"/>
          </a:solidFill>
          <a:ln w="12700">
            <a:solidFill>
              <a:srgbClr val="4B908E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11480" y="2907792"/>
            <a:ext cx="566928" cy="566928"/>
          </a:xfrm>
          <a:prstGeom prst="ellipse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097280" y="2944368"/>
            <a:ext cx="1234440" cy="256032"/>
          </a:xfrm>
          <a:prstGeom prst="roundRect">
            <a:avLst>
              <a:gd name="adj" fmla="val 17857"/>
            </a:avLst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97280" y="29443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097280" y="325526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Algorithms Evaluated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97280" y="3584448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XGBoost, LightGBM, CatBoost — all with class weights to handle 88% NORAIN imbalance. Train/validation split + 5-fold stratified cross-validation.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09160" y="2761488"/>
            <a:ext cx="4206240" cy="1554480"/>
          </a:xfrm>
          <a:prstGeom prst="rect">
            <a:avLst/>
          </a:prstGeom>
          <a:solidFill>
            <a:srgbClr val="3D7275"/>
          </a:solidFill>
          <a:ln w="12700">
            <a:solidFill>
              <a:srgbClr val="4B908E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846320" y="2907792"/>
            <a:ext cx="566928" cy="566928"/>
          </a:xfrm>
          <a:prstGeom prst="ellipse">
            <a:avLst/>
          </a:prstGeom>
          <a:solidFill>
            <a:srgbClr val="B8D7D5"/>
          </a:solidFill>
          <a:ln w="12700">
            <a:solidFill>
              <a:srgbClr val="B8D7D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4632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5532120" y="2944368"/>
            <a:ext cx="1234440" cy="256032"/>
          </a:xfrm>
          <a:prstGeom prst="roundRect">
            <a:avLst>
              <a:gd name="adj" fmla="val 17857"/>
            </a:avLst>
          </a:prstGeom>
          <a:solidFill>
            <a:srgbClr val="B8D7D5"/>
          </a:solidFill>
          <a:ln w="12700">
            <a:solidFill>
              <a:srgbClr val="B8D7D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532120" y="29443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532120" y="325526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 LIME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532120" y="3584448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for global feature importance across all 94 features. LIME for local instance-level explanations per rainfall class. Both required by competition.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0" y="4645152"/>
            <a:ext cx="9144000" cy="320040"/>
          </a:xfrm>
          <a:prstGeom prst="rect">
            <a:avLst/>
          </a:prstGeom>
          <a:solidFill>
            <a:srgbClr val="255254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11480" y="464515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export produced for cross-platform deployment  ·  Total notebook runtime: ~1.1 minutes in Google Colab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9144000" cy="54864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530352" cy="530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RESULTS  —  XGBOOST SELECTED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274320" y="1005840"/>
            <a:ext cx="2834640" cy="3913632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1005840"/>
            <a:ext cx="2834640" cy="64008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1170432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0.9501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274320" y="221284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74320" y="2560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0.0101  (5-fold CV)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2944368"/>
            <a:ext cx="2103120" cy="36576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" y="30723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0.9487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274320" y="33741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74320" y="366674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0.0101 σ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74320" y="396849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Stability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74320" y="42611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0.0297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274320" y="456285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Train-Val Gap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337560" y="1005840"/>
            <a:ext cx="5532120" cy="347472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29000" y="10058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617720" y="1005840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285232" y="100584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925312" y="100584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629400" y="100584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337560" y="1353312"/>
            <a:ext cx="5532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37560" y="1353312"/>
            <a:ext cx="54864" cy="438912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429000" y="140817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HEAVYRAIN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617720" y="1408176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1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0.990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285232" y="140817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1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0.987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925312" y="140817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1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6629400" y="140817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1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315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337560" y="1810512"/>
            <a:ext cx="5532120" cy="438912"/>
          </a:xfrm>
          <a:prstGeom prst="rect">
            <a:avLst/>
          </a:prstGeom>
          <a:solidFill>
            <a:srgbClr val="EEF5F5"/>
          </a:solidFill>
          <a:ln w="12700">
            <a:solidFill>
              <a:srgbClr val="E5E5E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337560" y="1810512"/>
            <a:ext cx="54864" cy="438912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429000" y="186537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MEDIUMRAIN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4617720" y="1865376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9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0.990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5285232" y="186537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9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0.991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925312" y="186537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9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0.990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6629400" y="186537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9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761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3337560" y="2267712"/>
            <a:ext cx="5532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337560" y="2267712"/>
            <a:ext cx="54864" cy="438912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429000" y="232257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NORAIN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4617720" y="2322576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0.998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5285232" y="232257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0.998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5925312" y="232257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0.998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629400" y="232257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9,612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3337560" y="2724912"/>
            <a:ext cx="5532120" cy="438912"/>
          </a:xfrm>
          <a:prstGeom prst="rect">
            <a:avLst/>
          </a:prstGeom>
          <a:solidFill>
            <a:srgbClr val="EEF5F5"/>
          </a:solidFill>
          <a:ln w="12700">
            <a:solidFill>
              <a:srgbClr val="E5E5E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337560" y="2724912"/>
            <a:ext cx="54864" cy="438912"/>
          </a:xfrm>
          <a:prstGeom prst="rect">
            <a:avLst/>
          </a:prstGeom>
          <a:solidFill>
            <a:srgbClr val="B8D7D5"/>
          </a:solidFill>
          <a:ln w="12700">
            <a:solidFill>
              <a:srgbClr val="B8D7D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3429000" y="277977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SMALLRAIN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4617720" y="2779776"/>
            <a:ext cx="621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~0.940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5285232" y="277977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~0.942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5925312" y="277977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~0.941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6629400" y="277977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3337560" y="3182112"/>
            <a:ext cx="5532120" cy="384048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3429000" y="31821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5760720" y="3182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3C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0.9758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6537960" y="318211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10,928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3337560" y="4187952"/>
            <a:ext cx="5532120" cy="713232"/>
          </a:xfrm>
          <a:prstGeom prst="rect">
            <a:avLst/>
          </a:prstGeom>
          <a:solidFill>
            <a:srgbClr val="E5E5E9"/>
          </a:solidFill>
          <a:ln w="12700">
            <a:solidFill>
              <a:srgbClr val="E5E5E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337560" y="4187952"/>
            <a:ext cx="54864" cy="713232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3456432" y="4187952"/>
            <a:ext cx="5349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SMALLRAIN (2.2% of data) is the hardest class — rarest label with highest prediction uncertainty. Class weights of up to 40× applied to improve minority class detection.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9144000" cy="54864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530352" cy="530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 —  SHAP + LIME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868680"/>
            <a:ext cx="9144000" cy="54864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1005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Global Feature Importance (Top 7)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4320" y="1389888"/>
            <a:ext cx="4114800" cy="310896"/>
          </a:xfrm>
          <a:prstGeom prst="rect">
            <a:avLst/>
          </a:prstGeom>
          <a:solidFill>
            <a:srgbClr val="E5E5E9"/>
          </a:solidFill>
          <a:ln w="12700">
            <a:solidFill>
              <a:srgbClr val="D0D0D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74320" y="1389888"/>
            <a:ext cx="4114800" cy="310896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7472" y="14356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462272" y="143560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74320" y="1837944"/>
            <a:ext cx="4114800" cy="310896"/>
          </a:xfrm>
          <a:prstGeom prst="rect">
            <a:avLst/>
          </a:prstGeom>
          <a:solidFill>
            <a:srgbClr val="E5E5E9"/>
          </a:solidFill>
          <a:ln w="12700">
            <a:solidFill>
              <a:srgbClr val="D0D0D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4320" y="1837944"/>
            <a:ext cx="3378467" cy="310896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" y="1883664"/>
            <a:ext cx="32870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community_Asamama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462272" y="18836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74320" y="2286000"/>
            <a:ext cx="4114800" cy="310896"/>
          </a:xfrm>
          <a:prstGeom prst="rect">
            <a:avLst/>
          </a:prstGeom>
          <a:solidFill>
            <a:srgbClr val="E5E5E9"/>
          </a:solidFill>
          <a:ln w="12700">
            <a:solidFill>
              <a:srgbClr val="D0D0D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4320" y="2286000"/>
            <a:ext cx="2057400" cy="310896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7472" y="2331720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pred_hour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462272" y="2331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0.380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74320" y="2734056"/>
            <a:ext cx="4114800" cy="310896"/>
          </a:xfrm>
          <a:prstGeom prst="rect">
            <a:avLst/>
          </a:prstGeom>
          <a:solidFill>
            <a:srgbClr val="E5E5E9"/>
          </a:solidFill>
          <a:ln w="12700">
            <a:solidFill>
              <a:srgbClr val="D0D0D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74320" y="2734056"/>
            <a:ext cx="1938287" cy="310896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7472" y="2779776"/>
            <a:ext cx="18468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district_atiwa_west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4462272" y="27797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0.358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274320" y="3182112"/>
            <a:ext cx="4114800" cy="310896"/>
          </a:xfrm>
          <a:prstGeom prst="rect">
            <a:avLst/>
          </a:prstGeom>
          <a:solidFill>
            <a:srgbClr val="E5E5E9"/>
          </a:solidFill>
          <a:ln w="12700">
            <a:solidFill>
              <a:srgbClr val="D0D0D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4320" y="3182112"/>
            <a:ext cx="1472665" cy="310896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47472" y="3227832"/>
            <a:ext cx="13812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62272" y="32278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0.272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274320" y="3630168"/>
            <a:ext cx="4114800" cy="310896"/>
          </a:xfrm>
          <a:prstGeom prst="rect">
            <a:avLst/>
          </a:prstGeom>
          <a:solidFill>
            <a:srgbClr val="E5E5E9"/>
          </a:solidFill>
          <a:ln w="12700">
            <a:solidFill>
              <a:srgbClr val="D0D0D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4320" y="3630168"/>
            <a:ext cx="530593" cy="310896"/>
          </a:xfrm>
          <a:prstGeom prst="rect">
            <a:avLst/>
          </a:prstGeom>
          <a:solidFill>
            <a:srgbClr val="B8D7D5"/>
          </a:solidFill>
          <a:ln w="12700">
            <a:solidFill>
              <a:srgbClr val="B8D7D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" y="36758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indicator_cloud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4462272" y="367588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0.098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74320" y="4078224"/>
            <a:ext cx="4114800" cy="310896"/>
          </a:xfrm>
          <a:prstGeom prst="rect">
            <a:avLst/>
          </a:prstGeom>
          <a:solidFill>
            <a:srgbClr val="E5E5E9"/>
          </a:solidFill>
          <a:ln w="12700">
            <a:solidFill>
              <a:srgbClr val="D0D0D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4320" y="4078224"/>
            <a:ext cx="471036" cy="310896"/>
          </a:xfrm>
          <a:prstGeom prst="rect">
            <a:avLst/>
          </a:prstGeom>
          <a:solidFill>
            <a:srgbClr val="B8D7D5"/>
          </a:solidFill>
          <a:ln w="12700">
            <a:solidFill>
              <a:srgbClr val="B8D7D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47472" y="412394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indicator_star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462272" y="412394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0.087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257800" y="1005840"/>
            <a:ext cx="3611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257800" y="1005840"/>
            <a:ext cx="64008" cy="1188720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394960" y="109728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ID dominates (0.760)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5394960" y="146304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farmer identity is the strongest predictor — reflecting consistent personal observation patterns per farmer.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257800" y="2331720"/>
            <a:ext cx="3611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257800" y="2331720"/>
            <a:ext cx="64008" cy="1188720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394960" y="2423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is powerful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5394960" y="27889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(0.624) and district (0.358) rank 2nd and 4th. Rainfall in Ghana is hyper-local by nature.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5257800" y="3657600"/>
            <a:ext cx="3611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5257800" y="3657600"/>
            <a:ext cx="64008" cy="1188720"/>
          </a:xfrm>
          <a:prstGeom prst="rect">
            <a:avLst/>
          </a:prstGeom>
          <a:solidFill>
            <a:srgbClr val="B8D7D5"/>
          </a:solidFill>
          <a:ln w="12700">
            <a:solidFill>
              <a:srgbClr val="B8D7D5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394960" y="374904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IEIs scientifically validated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5394960" y="41148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indicator_cloud (0.098) and indicator_star (0.087) appear in top 15 despite only 4.6% data coverage.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0" y="4617720"/>
            <a:ext cx="9144000" cy="384048"/>
          </a:xfrm>
          <a:prstGeom prst="rect">
            <a:avLst/>
          </a:prstGeom>
          <a:solidFill>
            <a:srgbClr val="E5E5E9"/>
          </a:solidFill>
          <a:ln w="12700">
            <a:solidFill>
              <a:srgbClr val="E5E5E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0" y="4617720"/>
            <a:ext cx="64008" cy="384048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164592" y="461772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 applied instance-level for all 4 classes — providing culturally accessible explanations aligned with indigenous knowledge systems and building farmer trust in AI predictions.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9144000" cy="54864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530352" cy="530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75488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 Opportunities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74320" y="13533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4320" y="1353312"/>
            <a:ext cx="64008" cy="804672"/>
          </a:xfrm>
          <a:prstGeom prst="rect">
            <a:avLst/>
          </a:prstGeom>
          <a:solidFill>
            <a:srgbClr val="316064"/>
          </a:solidFill>
          <a:ln w="12700">
            <a:solidFill>
              <a:srgbClr val="31606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" y="14081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Indicator Sparsity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38912" y="17007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95.4% of records have no IEI. User and location dominate because they are always present — indicators are predictive but rare.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74320" y="22677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74320" y="2267712"/>
            <a:ext cx="64008" cy="804672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8912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Geographic Scope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38912" y="26151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districts in the Pra River Basin. Generalisation to new regions or districts is untested.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74320" y="31821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74320" y="3182112"/>
            <a:ext cx="64008" cy="804672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8912" y="3236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SMALLRAIN Detection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38912" y="35295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Rarest class at 2.2% — hardest to classify correctly despite class weighting. Misclassification risk remains highest here.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74320" y="40965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274320" y="4096512"/>
            <a:ext cx="64008" cy="804672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8912" y="41513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Single Rainy Season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38912" y="44439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covers one season (May – July 2025). Multi-year data would improve seasonal robustness.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754880" y="13533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754880" y="1353312"/>
            <a:ext cx="64008" cy="804672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19472" y="14081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Hyperparameter Tuning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919472" y="17007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Optuna-based XGBoost tuning could push macro F1 above 0.96 without architectural changes.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754880" y="22677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754880" y="2267712"/>
            <a:ext cx="64008" cy="804672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919472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Feature Selection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919472" y="26151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94 features to top 10–15 for better interpretability and training efficiency.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754880" y="31821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754880" y="3182112"/>
            <a:ext cx="64008" cy="804672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19472" y="3236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Model Ensemble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919472" y="35295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XGBoost + LightGBM predictions for improved robustness across all 4 classes.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754880" y="4096512"/>
            <a:ext cx="4114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9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754880" y="4096512"/>
            <a:ext cx="64008" cy="804672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919472" y="41513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Expanded Data Collection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919472" y="44439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seasons, more districts, and higher IEI coverage would directly address all four limitations.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160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55254"/>
          </a:solidFill>
          <a:ln w="12700">
            <a:solidFill>
              <a:srgbClr val="2552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68680"/>
            <a:ext cx="9144000" cy="54864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530352" cy="530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BROADER CONTEXT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274320" y="1005840"/>
            <a:ext cx="4206240" cy="1536192"/>
          </a:xfrm>
          <a:prstGeom prst="rect">
            <a:avLst/>
          </a:prstGeom>
          <a:solidFill>
            <a:srgbClr val="3D7275"/>
          </a:solidFill>
          <a:ln w="12700">
            <a:solidFill>
              <a:srgbClr val="4B908E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1005840"/>
            <a:ext cx="64008" cy="1536192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38912" y="1152144"/>
            <a:ext cx="365760" cy="365760"/>
          </a:xfrm>
          <a:prstGeom prst="ellipse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16128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11247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Security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914400" y="1517904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accurate rainfall forecasts help smallholder farmers time planting decisions, reduce crop loss, and improve household food security.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709160" y="1005840"/>
            <a:ext cx="4206240" cy="1536192"/>
          </a:xfrm>
          <a:prstGeom prst="rect">
            <a:avLst/>
          </a:prstGeom>
          <a:solidFill>
            <a:srgbClr val="3D7275"/>
          </a:solidFill>
          <a:ln w="12700">
            <a:solidFill>
              <a:srgbClr val="4B908E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09160" y="1005840"/>
            <a:ext cx="64008" cy="1536192"/>
          </a:xfrm>
          <a:prstGeom prst="rect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73752" y="1152144"/>
            <a:ext cx="365760" cy="365760"/>
          </a:xfrm>
          <a:prstGeom prst="ellipse">
            <a:avLst/>
          </a:prstGeom>
          <a:solidFill>
            <a:srgbClr val="73C0B0"/>
          </a:solidFill>
          <a:ln w="12700">
            <a:solidFill>
              <a:srgbClr val="73C0B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1161288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49240" y="11247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Indigenous Knowledge Validated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5349240" y="1517904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first time, traditional ecological indicators are shown to carry measurable predictive signal — giving scientific weight to centuries of local knowledge.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74320" y="2724912"/>
            <a:ext cx="4206240" cy="1536192"/>
          </a:xfrm>
          <a:prstGeom prst="rect">
            <a:avLst/>
          </a:prstGeom>
          <a:solidFill>
            <a:srgbClr val="3D7275"/>
          </a:solidFill>
          <a:ln w="12700">
            <a:solidFill>
              <a:srgbClr val="4B908E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74320" y="2724912"/>
            <a:ext cx="64008" cy="1536192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38912" y="2871216"/>
            <a:ext cx="365760" cy="365760"/>
          </a:xfrm>
          <a:prstGeom prst="ellipse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88036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4400" y="28437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by Design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14400" y="3236976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and LIME explainability baked in from the start. ONNX export for transparent, cross-platform deployment. No black-box decisions.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709160" y="2724912"/>
            <a:ext cx="4206240" cy="1536192"/>
          </a:xfrm>
          <a:prstGeom prst="rect">
            <a:avLst/>
          </a:prstGeom>
          <a:solidFill>
            <a:srgbClr val="3D7275"/>
          </a:solidFill>
          <a:ln w="12700">
            <a:solidFill>
              <a:srgbClr val="4B908E"/>
            </a:solidFill>
            <a:prstDash val="solid"/>
          </a:ln>
          <a:effectLst>
            <a:outerShdw sx="100000" sy="100000" kx="0" ky="0" algn="bl" rotWithShape="0" blurRad="76200" dist="25400" dir="8100000">
              <a:srgbClr val="316064">
                <a:alpha val="13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09160" y="2724912"/>
            <a:ext cx="64008" cy="1536192"/>
          </a:xfrm>
          <a:prstGeom prst="rect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873752" y="2871216"/>
            <a:ext cx="365760" cy="365760"/>
          </a:xfrm>
          <a:prstGeom prst="ellipse">
            <a:avLst/>
          </a:prstGeom>
          <a:solidFill>
            <a:srgbClr val="4B908E"/>
          </a:solidFill>
          <a:ln w="12700">
            <a:solidFill>
              <a:srgbClr val="4B908E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2880360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49240" y="28437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Path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5349240" y="3236976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supports expansion to additional districts, new seasons, and integration with modern meteorological data sources.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0" y="4645152"/>
            <a:ext cx="9144000" cy="320040"/>
          </a:xfrm>
          <a:prstGeom prst="rect">
            <a:avLst/>
          </a:prstGeom>
          <a:solidFill>
            <a:srgbClr val="255254"/>
          </a:solidFill>
          <a:ln w="12700">
            <a:solidFill>
              <a:srgbClr val="4B908E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411480" y="464515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for the Zindi Ghana Indigenous Intel Challenge  ·  Hosted by RAIL at KNUST  ·  Supported by the French Embassy in Ghana &amp; AI4D Africa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Ghana Indigenous Rainfall Prediction</dc:title>
  <dc:subject>PptxGenJS Presentation</dc:subject>
  <dc:creator>PptxGenJS</dc:creator>
  <cp:lastModifiedBy>PptxGenJS</cp:lastModifiedBy>
  <cp:revision>1</cp:revision>
  <dcterms:created xsi:type="dcterms:W3CDTF">2026-03-19T19:04:35Z</dcterms:created>
  <dcterms:modified xsi:type="dcterms:W3CDTF">2026-03-19T19:04:35Z</dcterms:modified>
</cp:coreProperties>
</file>